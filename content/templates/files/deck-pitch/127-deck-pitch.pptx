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0" y="0"/>
            <a:ext cx="1219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493520"/>
            <a:ext cx="5486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98320"/>
            <a:ext cx="9144000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80" b="1" spc="156">
                <a:solidFill>
                  <a:schemeClr val="accent1"/>
                </a:solidFill>
                <a:latin typeface="Arial"/>
              </a:rPr>
              <a:t>COMPANY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9448800" cy="2400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9750"/>
              </a:lnSpc>
            </a:pPr>
            <a:r>
              <a:rPr sz="6000" b="0" spc="-120">
                <a:solidFill>
                  <a:srgbClr val="151515"/>
                </a:solidFill>
                <a:latin typeface="Georgia"/>
              </a:rPr>
              <a:t>[Your business]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10000"/>
            <a:ext cx="838200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800" b="0">
                <a:solidFill>
                  <a:srgbClr val="4A4A45"/>
                </a:solidFill>
                <a:latin typeface="Arial"/>
              </a:rPr>
              <a:t>[What you do]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455920"/>
            <a:ext cx="94488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54040"/>
            <a:ext cx="3048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82640"/>
            <a:ext cx="3048000" cy="624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320" b="0">
                <a:solidFill>
                  <a:srgbClr val="151515"/>
                </a:solidFill>
                <a:latin typeface="Arial"/>
              </a:rPr>
              <a:t>[Your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654040"/>
            <a:ext cx="3048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882640"/>
            <a:ext cx="3048000" cy="624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320" b="0">
                <a:solidFill>
                  <a:srgbClr val="151515"/>
                </a:solidFill>
                <a:latin typeface="Arial"/>
              </a:rPr>
              <a:t>[you@yourbusiness.com]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654040"/>
            <a:ext cx="3048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882640"/>
            <a:ext cx="3048000" cy="624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320" b="0">
                <a:solidFill>
                  <a:srgbClr val="151515"/>
                </a:solidFill>
                <a:latin typeface="Arial"/>
              </a:rP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858000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19" b="1" spc="144">
                <a:solidFill>
                  <a:schemeClr val="accent1"/>
                </a:solidFill>
                <a:latin typeface="Arial"/>
              </a:rPr>
              <a:t>01 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23316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A8983"/>
                </a:solidFill>
                <a:latin typeface="Arial"/>
              </a:rPr>
              <a:t>[Your business]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0" y="6385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750"/>
              </a:lnSpc>
            </a:pPr>
            <a:r>
              <a:rPr sz="960" b="0" spc="60">
                <a:solidFill>
                  <a:srgbClr val="8A8983"/>
                </a:solidFill>
                <a:latin typeface="Arial"/>
              </a:rPr>
              <a:t>02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9296400" cy="1623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9250"/>
              </a:lnSpc>
            </a:pPr>
            <a:r>
              <a:rPr sz="3720" b="0" spc="-60">
                <a:solidFill>
                  <a:srgbClr val="151515"/>
                </a:solidFill>
                <a:latin typeface="Georgia"/>
              </a:rPr>
              <a:t>[The problem, in one sentence a customer would actually say.]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[Who feels it]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[The person, and the moment the problem shows up for them.]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[What it costs them]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[Time, money or stress. Use their words, not jargon.]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[What they try now]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[The workarounds people use today, and why they fall short.]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858000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19" b="1" spc="144">
                <a:solidFill>
                  <a:schemeClr val="accent1"/>
                </a:solidFill>
                <a:latin typeface="Arial"/>
              </a:rPr>
              <a:t>02  WHO IT’S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23316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A8983"/>
                </a:solidFill>
                <a:latin typeface="Arial"/>
              </a:rPr>
              <a:t>[Your business]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0" y="6385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750"/>
              </a:lnSpc>
            </a:pPr>
            <a:r>
              <a:rPr sz="960" b="0" spc="60">
                <a:solidFill>
                  <a:srgbClr val="8A8983"/>
                </a:solidFill>
                <a:latin typeface="Arial"/>
              </a:rPr>
              <a:t>03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9296400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9250"/>
              </a:lnSpc>
            </a:pPr>
            <a:r>
              <a:rPr sz="4800" b="0" spc="-60">
                <a:solidFill>
                  <a:srgbClr val="151515"/>
                </a:solidFill>
                <a:latin typeface="Georgia"/>
              </a:rPr>
              <a:t>[Who it's for]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48000"/>
            <a:ext cx="8382000" cy="861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7750"/>
              </a:lnSpc>
            </a:pPr>
            <a:r>
              <a:rPr sz="1560" b="0">
                <a:solidFill>
                  <a:srgbClr val="4A4A45"/>
                </a:solidFill>
                <a:latin typeface="Arial"/>
              </a:rPr>
              <a:t>[One sentence that describes your best customer so clearly they’d recognise themselves.]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[Where they are]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[The place, channel or community where you reach them.]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[What they need]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[The outcome they are looking for, in plain words.]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[How many there are]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[A sourced estimate. Say where the number came from.]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858000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19" b="1" spc="144">
                <a:solidFill>
                  <a:schemeClr val="accent1"/>
                </a:solidFill>
                <a:latin typeface="Arial"/>
              </a:rPr>
              <a:t>03  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23316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A8983"/>
                </a:solidFill>
                <a:latin typeface="Arial"/>
              </a:rPr>
              <a:t>[Your business]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0" y="6385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750"/>
              </a:lnSpc>
            </a:pPr>
            <a:r>
              <a:rPr sz="960" b="0" spc="60">
                <a:solidFill>
                  <a:srgbClr val="8A8983"/>
                </a:solidFill>
                <a:latin typeface="Arial"/>
              </a:rPr>
              <a:t>04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9296400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9250"/>
              </a:lnSpc>
            </a:pPr>
            <a:r>
              <a:rPr sz="4800" b="0" spc="-60">
                <a:solidFill>
                  <a:srgbClr val="151515"/>
                </a:solidFill>
                <a:latin typeface="Georgia"/>
              </a:rPr>
              <a:t>[Your offer]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48000"/>
            <a:ext cx="8382000" cy="861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7750"/>
              </a:lnSpc>
            </a:pPr>
            <a:r>
              <a:rPr sz="1560" b="0">
                <a:solidFill>
                  <a:srgbClr val="4A4A45"/>
                </a:solidFill>
                <a:latin typeface="Arial"/>
              </a:rPr>
              <a:t>[One sentence on how it solves the problem on the last slide.]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[What it is]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[Describe it the way you’d explain it to a friend.]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[Why it works]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[The one thing that makes it better than the workaround.]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[What it replaces]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[The tool, habit or service people stop using.]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858000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19" b="1" spc="144">
                <a:solidFill>
                  <a:schemeClr val="accent1"/>
                </a:solidFill>
                <a:latin typeface="Arial"/>
              </a:rPr>
              <a:t>04 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23316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A8983"/>
                </a:solidFill>
                <a:latin typeface="Arial"/>
              </a:rPr>
              <a:t>[Your business]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0" y="6385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750"/>
              </a:lnSpc>
            </a:pPr>
            <a:r>
              <a:rPr sz="960" b="0" spc="60">
                <a:solidFill>
                  <a:srgbClr val="8A8983"/>
                </a:solidFill>
                <a:latin typeface="Arial"/>
              </a:rPr>
              <a:t>05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9144000" cy="1363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9250"/>
              </a:lnSpc>
            </a:pPr>
            <a:r>
              <a:rPr sz="3120" b="0" spc="-60">
                <a:solidFill>
                  <a:srgbClr val="151515"/>
                </a:solidFill>
                <a:latin typeface="Georgia"/>
              </a:rPr>
              <a:t>From first hello to done, in three steps.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34640"/>
            <a:ext cx="3048000" cy="266700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9200" y="3108960"/>
            <a:ext cx="1524000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3360" b="0">
                <a:solidFill>
                  <a:schemeClr val="accent1"/>
                </a:solidFill>
                <a:latin typeface="Georgia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3962400"/>
            <a:ext cx="24384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200" y="4175760"/>
            <a:ext cx="2438400" cy="739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500" b="1">
                <a:solidFill>
                  <a:srgbClr val="151515"/>
                </a:solidFill>
                <a:latin typeface="Arial"/>
              </a:rPr>
              <a:t>[Step one]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4511040"/>
            <a:ext cx="24384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[What the customer does, and what you do.]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34640"/>
            <a:ext cx="3048000" cy="266700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800" y="3108960"/>
            <a:ext cx="1524000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3360" b="0">
                <a:solidFill>
                  <a:schemeClr val="accent1"/>
                </a:solidFill>
                <a:latin typeface="Georgia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800" y="3962400"/>
            <a:ext cx="24384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6800" y="4175760"/>
            <a:ext cx="2438400" cy="739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500" b="1">
                <a:solidFill>
                  <a:srgbClr val="151515"/>
                </a:solidFill>
                <a:latin typeface="Arial"/>
              </a:rPr>
              <a:t>[Step two]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0" y="4511040"/>
            <a:ext cx="24384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[Where the real work happens.]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834640"/>
            <a:ext cx="3048000" cy="266700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400" y="3108960"/>
            <a:ext cx="1524000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3360" b="0">
                <a:solidFill>
                  <a:schemeClr val="accent1"/>
                </a:solidFill>
                <a:latin typeface="Georgia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34400" y="3962400"/>
            <a:ext cx="24384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4400" y="4175760"/>
            <a:ext cx="2438400" cy="739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500" b="1">
                <a:solidFill>
                  <a:srgbClr val="151515"/>
                </a:solidFill>
                <a:latin typeface="Arial"/>
              </a:rPr>
              <a:t>[Step three]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4511040"/>
            <a:ext cx="24384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[What the customer has at the end.]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858000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19" b="1" spc="144">
                <a:solidFill>
                  <a:schemeClr val="accent1"/>
                </a:solidFill>
                <a:latin typeface="Arial"/>
              </a:rPr>
              <a:t>05  WHY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23316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A8983"/>
                </a:solidFill>
                <a:latin typeface="Arial"/>
              </a:rPr>
              <a:t>[Your business]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0" y="6385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750"/>
              </a:lnSpc>
            </a:pPr>
            <a:r>
              <a:rPr sz="960" b="0" spc="60">
                <a:solidFill>
                  <a:srgbClr val="8A8983"/>
                </a:solidFill>
                <a:latin typeface="Arial"/>
              </a:rPr>
              <a:t>06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9296400" cy="1623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9250"/>
              </a:lnSpc>
            </a:pPr>
            <a:r>
              <a:rPr sz="3720" b="0" spc="-60">
                <a:solidFill>
                  <a:srgbClr val="151515"/>
                </a:solidFill>
                <a:latin typeface="Georgia"/>
              </a:rPr>
              <a:t>[What changed that makes this the right time.]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[A shift in the market]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[Something you can point to, with a source.]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[A change in behaviour]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[How customers buy or decide differently now.]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267200"/>
            <a:ext cx="426720" cy="3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495800"/>
            <a:ext cx="3048000" cy="708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350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[Why you, why now]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15840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200" b="0">
                <a:solidFill>
                  <a:srgbClr val="4A4A45"/>
                </a:solidFill>
                <a:latin typeface="Arial"/>
              </a:rPr>
              <a:t>[What you can do today that wasn’t possible before.]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858000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19" b="1" spc="144">
                <a:solidFill>
                  <a:schemeClr val="accent1"/>
                </a:solidFill>
                <a:latin typeface="Arial"/>
              </a:rPr>
              <a:t>06  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23316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A8983"/>
                </a:solidFill>
                <a:latin typeface="Arial"/>
              </a:rPr>
              <a:t>[Your business]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0" y="6385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750"/>
              </a:lnSpc>
            </a:pPr>
            <a:r>
              <a:rPr sz="960" b="0" spc="60">
                <a:solidFill>
                  <a:srgbClr val="8A8983"/>
                </a:solidFill>
                <a:latin typeface="Arial"/>
              </a:rPr>
              <a:t>07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9144000" cy="1363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9250"/>
              </a:lnSpc>
            </a:pPr>
            <a:r>
              <a:rPr sz="3120" b="0" spc="-60">
                <a:solidFill>
                  <a:srgbClr val="151515"/>
                </a:solidFill>
                <a:latin typeface="Georgia"/>
              </a:rPr>
              <a:t>Where things stand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95600"/>
            <a:ext cx="3048000" cy="1524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39440"/>
            <a:ext cx="3048000" cy="18059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500"/>
              </a:lnSpc>
            </a:pPr>
            <a:r>
              <a:rPr sz="4320" b="0" spc="-60">
                <a:solidFill>
                  <a:schemeClr val="accent1"/>
                </a:solidFill>
                <a:latin typeface="Georgia"/>
              </a:rPr>
              <a:t>[Number]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38600"/>
            <a:ext cx="3048000" cy="701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20" b="0">
                <a:solidFill>
                  <a:srgbClr val="4A4A45"/>
                </a:solidFill>
                <a:latin typeface="Arial"/>
              </a:rPr>
              <a:t>[Customers served so far]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895600"/>
            <a:ext cx="3048000" cy="1524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139440"/>
            <a:ext cx="3048000" cy="18059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500"/>
              </a:lnSpc>
            </a:pPr>
            <a:r>
              <a:rPr sz="4320" b="0" spc="-60">
                <a:solidFill>
                  <a:schemeClr val="accent1"/>
                </a:solidFill>
                <a:latin typeface="Georgia"/>
              </a:rPr>
              <a:t>[Number]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38600"/>
            <a:ext cx="3048000" cy="701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20" b="0">
                <a:solidFill>
                  <a:srgbClr val="4A4A45"/>
                </a:solidFill>
                <a:latin typeface="Arial"/>
              </a:rPr>
              <a:t>[Repeat or referral rate]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895600"/>
            <a:ext cx="3048000" cy="1524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139440"/>
            <a:ext cx="3048000" cy="18059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500"/>
              </a:lnSpc>
            </a:pPr>
            <a:r>
              <a:rPr sz="4320" b="0" spc="-60">
                <a:solidFill>
                  <a:schemeClr val="accent1"/>
                </a:solidFill>
                <a:latin typeface="Georgia"/>
              </a:rPr>
              <a:t>[Number]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038600"/>
            <a:ext cx="3048000" cy="701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20" b="0">
                <a:solidFill>
                  <a:srgbClr val="4A4A45"/>
                </a:solidFill>
                <a:latin typeface="Arial"/>
              </a:rPr>
              <a:t>[Monthly revenue, if you share it]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12064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83820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140" b="0">
                <a:solidFill>
                  <a:srgbClr val="8A8983"/>
                </a:solidFill>
                <a:latin typeface="Arial"/>
              </a:rPr>
              <a:t>[Real numbers only, with the date they’re from. If it’s early, show what you’ve tested and learned instead, and delete the boxes you can’t fill honestly.]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858000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19" b="1" spc="144">
                <a:solidFill>
                  <a:schemeClr val="accent1"/>
                </a:solidFill>
                <a:latin typeface="Arial"/>
              </a:rPr>
              <a:t>07  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23316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A8983"/>
                </a:solidFill>
                <a:latin typeface="Arial"/>
              </a:rPr>
              <a:t>[Your business]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0" y="6385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750"/>
              </a:lnSpc>
            </a:pPr>
            <a:r>
              <a:rPr sz="960" b="0" spc="60">
                <a:solidFill>
                  <a:srgbClr val="8A8983"/>
                </a:solidFill>
                <a:latin typeface="Arial"/>
              </a:rPr>
              <a:t>08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5029200" cy="1363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9250"/>
              </a:lnSpc>
            </a:pPr>
            <a:r>
              <a:rPr sz="3120" b="0" spc="-60">
                <a:solidFill>
                  <a:srgbClr val="151515"/>
                </a:solidFill>
                <a:latin typeface="Georgia"/>
              </a:rPr>
              <a:t>How the business makes money.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5334000" cy="2110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500"/>
              </a:lnSpc>
            </a:pPr>
            <a:r>
              <a:rPr sz="5040" b="0" spc="-60">
                <a:solidFill>
                  <a:schemeClr val="accent1"/>
                </a:solidFill>
                <a:latin typeface="Georgia"/>
              </a:rPr>
              <a:t>[Your price]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27120"/>
            <a:ext cx="5029200" cy="701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20" b="0">
                <a:solidFill>
                  <a:srgbClr val="8A8983"/>
                </a:solidFill>
                <a:latin typeface="Arial"/>
              </a:rPr>
              <a:t>[Per visit, per order, per month or per project]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5600" y="1295400"/>
            <a:ext cx="4572000" cy="762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5600" y="1493520"/>
            <a:ext cx="4572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WHO PAYS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737360"/>
            <a:ext cx="4572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440" b="0">
                <a:solidFill>
                  <a:srgbClr val="151515"/>
                </a:solidFill>
                <a:latin typeface="Arial"/>
              </a:rPr>
              <a:t>[The customer, a partner, or both]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05600" y="2590800"/>
            <a:ext cx="45720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5600" y="2788920"/>
            <a:ext cx="4572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HOW OFTEN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3032760"/>
            <a:ext cx="4572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440" b="0">
                <a:solidFill>
                  <a:srgbClr val="151515"/>
                </a:solidFill>
                <a:latin typeface="Arial"/>
              </a:rPr>
              <a:t>[Once, monthly, seasonal or on repeat]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05600" y="3886200"/>
            <a:ext cx="45720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5600" y="4084320"/>
            <a:ext cx="4572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COST TO DELIVER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4328160"/>
            <a:ext cx="4572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440" b="0">
                <a:solidFill>
                  <a:srgbClr val="151515"/>
                </a:solidFill>
                <a:latin typeface="Arial"/>
              </a:rPr>
              <a:t>[Roughly what one sale costs you to deliver]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05600" y="5181600"/>
            <a:ext cx="45720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858000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19" b="1" spc="144">
                <a:solidFill>
                  <a:schemeClr val="accent1"/>
                </a:solidFill>
                <a:latin typeface="Arial"/>
              </a:rPr>
              <a:t>08  COMPETITION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23316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A8983"/>
                </a:solidFill>
                <a:latin typeface="Arial"/>
              </a:rPr>
              <a:t>[Your business]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0" y="6385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750"/>
              </a:lnSpc>
            </a:pPr>
            <a:r>
              <a:rPr sz="960" b="0" spc="60">
                <a:solidFill>
                  <a:srgbClr val="8A8983"/>
                </a:solidFill>
                <a:latin typeface="Arial"/>
              </a:rPr>
              <a:t>09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9144000" cy="1257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9250"/>
              </a:lnSpc>
            </a:pPr>
            <a:r>
              <a:rPr sz="2880" b="0" spc="-60">
                <a:solidFill>
                  <a:srgbClr val="151515"/>
                </a:solidFill>
                <a:latin typeface="Georgia"/>
              </a:rPr>
              <a:t>What people use today, and where we 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45080"/>
            <a:ext cx="28956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2400" y="2545080"/>
            <a:ext cx="2286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[WHAT MATTERS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45080"/>
            <a:ext cx="2286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[WHAT MATTERS 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9200" y="2545080"/>
            <a:ext cx="24384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[WHAT MATTERS 3]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86512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24200"/>
            <a:ext cx="2712720" cy="624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320" b="1">
                <a:solidFill>
                  <a:srgbClr val="151515"/>
                </a:solidFill>
                <a:latin typeface="Arial"/>
              </a:rPr>
              <a:t>[Alternative one]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3139440"/>
            <a:ext cx="2133600" cy="541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[Short note]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39440"/>
            <a:ext cx="2133600" cy="541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[Short note]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9200" y="3139440"/>
            <a:ext cx="2286000" cy="541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[Short note]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61188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70960"/>
            <a:ext cx="2712720" cy="624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320" b="1">
                <a:solidFill>
                  <a:srgbClr val="151515"/>
                </a:solidFill>
                <a:latin typeface="Arial"/>
              </a:rPr>
              <a:t>[Alternative two]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2400" y="3886200"/>
            <a:ext cx="2133600" cy="541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[Short note]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886200"/>
            <a:ext cx="2133600" cy="541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[Short note]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9200" y="3886200"/>
            <a:ext cx="2286000" cy="541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[Short note]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35864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617720"/>
            <a:ext cx="2712720" cy="624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320" b="1">
                <a:solidFill>
                  <a:srgbClr val="151515"/>
                </a:solidFill>
                <a:latin typeface="Arial"/>
              </a:rPr>
              <a:t>Doing it themselves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2400" y="4632960"/>
            <a:ext cx="2133600" cy="541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[Short note]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32960"/>
            <a:ext cx="2133600" cy="541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[Short note]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9200" y="4632960"/>
            <a:ext cx="2286000" cy="541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140" b="0">
                <a:solidFill>
                  <a:srgbClr val="4A4A45"/>
                </a:solidFill>
                <a:latin typeface="Arial"/>
              </a:rPr>
              <a:t>[Short note]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105400"/>
            <a:ext cx="10363200" cy="74676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5105400"/>
            <a:ext cx="45720" cy="746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364480"/>
            <a:ext cx="2712720" cy="624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320" b="1">
                <a:solidFill>
                  <a:srgbClr val="151515"/>
                </a:solidFill>
                <a:latin typeface="Arial"/>
              </a:rPr>
              <a:t>[Your business]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5379720"/>
            <a:ext cx="2133600" cy="541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140" b="0">
                <a:solidFill>
                  <a:srgbClr val="151515"/>
                </a:solidFill>
                <a:latin typeface="Arial"/>
              </a:rPr>
              <a:t>[Short note]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79720"/>
            <a:ext cx="2133600" cy="541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140" b="0">
                <a:solidFill>
                  <a:srgbClr val="151515"/>
                </a:solidFill>
                <a:latin typeface="Arial"/>
              </a:rPr>
              <a:t>[Short note]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9200" y="5379720"/>
            <a:ext cx="2286000" cy="541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140" b="0">
                <a:solidFill>
                  <a:srgbClr val="151515"/>
                </a:solidFill>
                <a:latin typeface="Arial"/>
              </a:rPr>
              <a:t>[Short note]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858000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019" b="1" spc="144">
                <a:solidFill>
                  <a:schemeClr val="accent1"/>
                </a:solidFill>
                <a:latin typeface="Arial"/>
              </a:rPr>
              <a:t>09  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6233160"/>
            <a:ext cx="103632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A8983"/>
                </a:solidFill>
                <a:latin typeface="Arial"/>
              </a:rPr>
              <a:t>[Your business]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0" y="6385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750"/>
              </a:lnSpc>
            </a:pPr>
            <a:r>
              <a:rPr sz="960" b="0" spc="60">
                <a:solidFill>
                  <a:srgbClr val="8A8983"/>
                </a:solidFill>
                <a:latin typeface="Arial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6553200" cy="1684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400"/>
              </a:lnSpc>
            </a:pPr>
            <a:r>
              <a:rPr sz="3960" b="0" spc="-60">
                <a:solidFill>
                  <a:srgbClr val="151515"/>
                </a:solidFill>
                <a:latin typeface="Georgia"/>
              </a:rPr>
              <a:t>[What you’re asking for: an amount, a partner or an introduction.]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81400"/>
            <a:ext cx="6096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500"/>
              </a:lnSpc>
            </a:pPr>
            <a:r>
              <a:rPr sz="1440" b="0">
                <a:solidFill>
                  <a:srgbClr val="4A4A45"/>
                </a:solidFill>
                <a:latin typeface="Arial"/>
              </a:rPr>
              <a:t>[What it gets the business to, in one sentence. Name a milestone you control, not a promise.]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7200" y="1249680"/>
            <a:ext cx="32004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A8983"/>
                </a:solidFill>
                <a:latin typeface="Arial"/>
              </a:rPr>
              <a:t>WHAT IT’S FOR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7200" y="1524000"/>
            <a:ext cx="3200400" cy="762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7200" y="173736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[Use one]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200" y="2026920"/>
            <a:ext cx="3200400" cy="541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140" b="0">
                <a:solidFill>
                  <a:srgbClr val="8A8983"/>
                </a:solidFill>
                <a:latin typeface="Arial"/>
              </a:rPr>
              <a:t>[Share or amount]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7200" y="2514600"/>
            <a:ext cx="32004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7200" y="272796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[Use two]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0" y="3017520"/>
            <a:ext cx="3200400" cy="541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140" b="0">
                <a:solidFill>
                  <a:srgbClr val="8A8983"/>
                </a:solidFill>
                <a:latin typeface="Arial"/>
              </a:rPr>
              <a:t>[Share or amount]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7200" y="3505200"/>
            <a:ext cx="32004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7200" y="371856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440" b="1">
                <a:solidFill>
                  <a:srgbClr val="151515"/>
                </a:solidFill>
                <a:latin typeface="Arial"/>
              </a:rPr>
              <a:t>[Use three]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7200" y="4008120"/>
            <a:ext cx="3200400" cy="541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140" b="0">
                <a:solidFill>
                  <a:srgbClr val="8A8983"/>
                </a:solidFill>
                <a:latin typeface="Arial"/>
              </a:rPr>
              <a:t>[Share or amount]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7200" y="4495800"/>
            <a:ext cx="3200400" cy="7620"/>
          </a:xfrm>
          <a:prstGeom prst="rect">
            <a:avLst/>
          </a:prstGeom>
          <a:solidFill>
            <a:srgbClr val="E4E2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493520"/>
            <a:ext cx="5486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98320"/>
            <a:ext cx="9906000" cy="259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9750"/>
              </a:lnSpc>
            </a:pPr>
            <a:r>
              <a:rPr sz="6480" b="0" spc="-120">
                <a:solidFill>
                  <a:srgbClr val="FFFFFF"/>
                </a:solidFill>
                <a:latin typeface="Georgia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620000" cy="861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7750"/>
              </a:lnSpc>
            </a:pPr>
            <a:r>
              <a:rPr sz="1560" b="0">
                <a:solidFill>
                  <a:srgbClr val="B4B3AD"/>
                </a:solidFill>
                <a:latin typeface="Arial"/>
              </a:rPr>
              <a:t>[One line on what you’d like to happen next, e.g. a second call this month.]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4572000" cy="7620"/>
          </a:xfrm>
          <a:prstGeom prst="rect">
            <a:avLst/>
          </a:prstGeom>
          <a:solidFill>
            <a:srgbClr val="8584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4572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5847E"/>
                </a:solidFill>
                <a:latin typeface="Arial"/>
              </a:rPr>
              <a:t>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4876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680" b="0">
                <a:solidFill>
                  <a:srgbClr val="FFFFFF"/>
                </a:solidFill>
                <a:latin typeface="Arial"/>
              </a:rPr>
              <a:t>[Your name]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0" y="4114800"/>
            <a:ext cx="4572000" cy="7620"/>
          </a:xfrm>
          <a:prstGeom prst="rect">
            <a:avLst/>
          </a:prstGeom>
          <a:solidFill>
            <a:srgbClr val="8584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0" y="4297680"/>
            <a:ext cx="4572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5847E"/>
                </a:solidFill>
                <a:latin typeface="Arial"/>
              </a:rP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4526280"/>
            <a:ext cx="4876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680" b="0">
                <a:solidFill>
                  <a:srgbClr val="FFFFFF"/>
                </a:solidFill>
                <a:latin typeface="Arial"/>
              </a:rPr>
              <a:t>[you@yourbusiness.com]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059680"/>
            <a:ext cx="4572000" cy="7620"/>
          </a:xfrm>
          <a:prstGeom prst="rect">
            <a:avLst/>
          </a:prstGeom>
          <a:solidFill>
            <a:srgbClr val="8584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42560"/>
            <a:ext cx="4572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5847E"/>
                </a:solidFill>
                <a:latin typeface="Arial"/>
              </a:rPr>
              <a:t>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71160"/>
            <a:ext cx="4876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680" b="0">
                <a:solidFill>
                  <a:srgbClr val="FFFFFF"/>
                </a:solidFill>
                <a:latin typeface="Arial"/>
              </a:rPr>
              <a:t>[your phone]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0" y="5059680"/>
            <a:ext cx="4572000" cy="7620"/>
          </a:xfrm>
          <a:prstGeom prst="rect">
            <a:avLst/>
          </a:prstGeom>
          <a:solidFill>
            <a:srgbClr val="8584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0" y="5242560"/>
            <a:ext cx="4572000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840" b="1" spc="120">
                <a:solidFill>
                  <a:srgbClr val="85847E"/>
                </a:solidFill>
                <a:latin typeface="Arial"/>
              </a:rPr>
              <a:t>WEBSITE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5471160"/>
            <a:ext cx="48768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1680" b="0">
                <a:solidFill>
                  <a:srgbClr val="FFFFFF"/>
                </a:solidFill>
                <a:latin typeface="Arial"/>
              </a:rPr>
              <a:t>[yourwebsite.com]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38556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750"/>
              </a:lnSpc>
            </a:pPr>
            <a:r>
              <a:rPr sz="960" b="1">
                <a:solidFill>
                  <a:srgbClr val="85847E"/>
                </a:solidFill>
                <a:latin typeface="Arial"/>
              </a:rPr>
              <a:t>[Your business]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11111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subject/>
  <dc:creator/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