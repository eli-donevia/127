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0" y="0"/>
            <a:ext cx="1219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493520"/>
            <a:ext cx="54864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98320"/>
            <a:ext cx="9144000" cy="510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080" b="1" spc="156">
                <a:solidFill>
                  <a:schemeClr val="accent1"/>
                </a:solidFill>
                <a:latin typeface="Arial"/>
              </a:rPr>
              <a:t>PROPOSAL FOR [CLIENT NAME]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9448800" cy="2400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9750"/>
              </a:lnSpc>
            </a:pPr>
            <a:r>
              <a:rPr sz="6000" b="0" spc="-120">
                <a:solidFill>
                  <a:srgbClr val="151515"/>
                </a:solidFill>
                <a:latin typeface="Georgia"/>
              </a:rPr>
              <a:t>A plan for [Client name]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10000"/>
            <a:ext cx="838200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800" b="0">
                <a:solidFill>
                  <a:srgbClr val="4A4A45"/>
                </a:solidFill>
                <a:latin typeface="Arial"/>
              </a:rPr>
              <a:t>Prepared by [Your name] at [Your business]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455920"/>
            <a:ext cx="94488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654040"/>
            <a:ext cx="3048000" cy="396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840" b="1" spc="120">
                <a:solidFill>
                  <a:srgbClr val="8A8983"/>
                </a:solidFill>
                <a:latin typeface="Arial"/>
              </a:rPr>
              <a:t>CONTACT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82640"/>
            <a:ext cx="3048000" cy="624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320" b="0">
                <a:solidFill>
                  <a:srgbClr val="151515"/>
                </a:solidFill>
                <a:latin typeface="Arial"/>
              </a:rPr>
              <a:t>[you@yourbusiness.com]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5654040"/>
            <a:ext cx="3048000" cy="396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840" b="1" spc="120">
                <a:solidFill>
                  <a:srgbClr val="8A8983"/>
                </a:solidFill>
                <a:latin typeface="Arial"/>
              </a:rPr>
              <a:t>PHONE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5882640"/>
            <a:ext cx="3048000" cy="624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320" b="0">
                <a:solidFill>
                  <a:srgbClr val="151515"/>
                </a:solidFill>
                <a:latin typeface="Arial"/>
              </a:rPr>
              <a:t>[your phone]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5654040"/>
            <a:ext cx="3048000" cy="396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840" b="1" spc="120">
                <a:solidFill>
                  <a:srgbClr val="8A8983"/>
                </a:solidFill>
                <a:latin typeface="Arial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5882640"/>
            <a:ext cx="3048000" cy="624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320" b="0">
                <a:solidFill>
                  <a:srgbClr val="151515"/>
                </a:solidFill>
                <a:latin typeface="Arial"/>
              </a:rPr>
              <a:t>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6858000" cy="4800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019" b="1" spc="144">
                <a:solidFill>
                  <a:schemeClr val="accent1"/>
                </a:solidFill>
                <a:latin typeface="Arial"/>
              </a:rPr>
              <a:t>01  WHERE YOU ARE 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6233160"/>
            <a:ext cx="103632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85560"/>
            <a:ext cx="6096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960" b="1">
                <a:solidFill>
                  <a:srgbClr val="8A8983"/>
                </a:solidFill>
                <a:latin typeface="Arial"/>
              </a:rPr>
              <a:t>[Your business]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91600" y="63855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750"/>
              </a:lnSpc>
            </a:pPr>
            <a:r>
              <a:rPr sz="960" b="0" spc="60">
                <a:solidFill>
                  <a:srgbClr val="8A8983"/>
                </a:solidFill>
                <a:latin typeface="Arial"/>
              </a:rPr>
              <a:t>02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9296400" cy="16230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9250"/>
              </a:lnSpc>
            </a:pPr>
            <a:r>
              <a:rPr sz="3720" b="0" spc="-60">
                <a:solidFill>
                  <a:srgbClr val="151515"/>
                </a:solidFill>
                <a:latin typeface="Georgia"/>
              </a:rPr>
              <a:t>“[Their situation, in the words they used on your first call.]”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267200"/>
            <a:ext cx="426720" cy="304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95800"/>
            <a:ext cx="3048000" cy="7086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3500"/>
              </a:lnSpc>
            </a:pPr>
            <a:r>
              <a:rPr sz="1440" b="1">
                <a:solidFill>
                  <a:srgbClr val="151515"/>
                </a:solidFill>
                <a:latin typeface="Arial"/>
              </a:rPr>
              <a:t>[What’s working]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15840"/>
            <a:ext cx="30480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500"/>
              </a:lnSpc>
            </a:pPr>
            <a:r>
              <a:rPr sz="1200" b="0">
                <a:solidFill>
                  <a:srgbClr val="4A4A45"/>
                </a:solidFill>
                <a:latin typeface="Arial"/>
              </a:rPr>
              <a:t>[Name what they already do well. It shows you listened.]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4267200"/>
            <a:ext cx="426720" cy="304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4495800"/>
            <a:ext cx="3048000" cy="7086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3500"/>
              </a:lnSpc>
            </a:pPr>
            <a:r>
              <a:rPr sz="1440" b="1">
                <a:solidFill>
                  <a:srgbClr val="151515"/>
                </a:solidFill>
                <a:latin typeface="Arial"/>
              </a:rPr>
              <a:t>[What’s in the way]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815840"/>
            <a:ext cx="30480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500"/>
              </a:lnSpc>
            </a:pPr>
            <a:r>
              <a:rPr sz="1200" b="0">
                <a:solidFill>
                  <a:srgbClr val="4A4A45"/>
                </a:solidFill>
                <a:latin typeface="Arial"/>
              </a:rPr>
              <a:t>[The real blocker, as they described it.]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4267200"/>
            <a:ext cx="426720" cy="304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495800"/>
            <a:ext cx="3048000" cy="7086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3500"/>
              </a:lnSpc>
            </a:pPr>
            <a:r>
              <a:rPr sz="1440" b="1">
                <a:solidFill>
                  <a:srgbClr val="151515"/>
                </a:solidFill>
                <a:latin typeface="Arial"/>
              </a:rPr>
              <a:t>[What they’ve tried]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815840"/>
            <a:ext cx="30480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500"/>
              </a:lnSpc>
            </a:pPr>
            <a:r>
              <a:rPr sz="1200" b="0">
                <a:solidFill>
                  <a:srgbClr val="4A4A45"/>
                </a:solidFill>
                <a:latin typeface="Arial"/>
              </a:rPr>
              <a:t>[Past fixes, and why they didn’t stick.]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6858000" cy="4800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019" b="1" spc="144">
                <a:solidFill>
                  <a:schemeClr val="accent1"/>
                </a:solidFill>
                <a:latin typeface="Arial"/>
              </a:rPr>
              <a:t>02  WHAT YOU WANT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6233160"/>
            <a:ext cx="103632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85560"/>
            <a:ext cx="6096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960" b="1">
                <a:solidFill>
                  <a:srgbClr val="8A8983"/>
                </a:solidFill>
                <a:latin typeface="Arial"/>
              </a:rPr>
              <a:t>[Your business]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91600" y="63855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750"/>
              </a:lnSpc>
            </a:pPr>
            <a:r>
              <a:rPr sz="960" b="0" spc="60">
                <a:solidFill>
                  <a:srgbClr val="8A8983"/>
                </a:solidFill>
                <a:latin typeface="Arial"/>
              </a:rPr>
              <a:t>03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9296400" cy="16230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9250"/>
              </a:lnSpc>
            </a:pPr>
            <a:r>
              <a:rPr sz="3720" b="0" spc="-60">
                <a:solidFill>
                  <a:srgbClr val="151515"/>
                </a:solidFill>
                <a:latin typeface="Georgia"/>
              </a:rPr>
              <a:t>What a good result looks like for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48000"/>
            <a:ext cx="8382000" cy="8610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7750"/>
              </a:lnSpc>
            </a:pPr>
            <a:r>
              <a:rPr sz="1560" b="0">
                <a:solidFill>
                  <a:srgbClr val="4A4A45"/>
                </a:solidFill>
                <a:latin typeface="Arial"/>
              </a:rPr>
              <a:t>[Use their goals, not yours. Keep each one specific and in their control.]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267200"/>
            <a:ext cx="426720" cy="304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495800"/>
            <a:ext cx="3048000" cy="7086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3500"/>
              </a:lnSpc>
            </a:pPr>
            <a:r>
              <a:rPr sz="1440" b="1">
                <a:solidFill>
                  <a:srgbClr val="151515"/>
                </a:solidFill>
                <a:latin typeface="Arial"/>
              </a:rPr>
              <a:t>[Goal one]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15840"/>
            <a:ext cx="30480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500"/>
              </a:lnSpc>
            </a:pPr>
            <a:r>
              <a:rPr sz="1200" b="0">
                <a:solidFill>
                  <a:srgbClr val="4A4A45"/>
                </a:solidFill>
                <a:latin typeface="Arial"/>
              </a:rPr>
              <a:t>[How you’ll both know it happened.]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4267200"/>
            <a:ext cx="426720" cy="304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4495800"/>
            <a:ext cx="3048000" cy="7086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3500"/>
              </a:lnSpc>
            </a:pPr>
            <a:r>
              <a:rPr sz="1440" b="1">
                <a:solidFill>
                  <a:srgbClr val="151515"/>
                </a:solidFill>
                <a:latin typeface="Arial"/>
              </a:rPr>
              <a:t>[Goal two]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815840"/>
            <a:ext cx="30480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500"/>
              </a:lnSpc>
            </a:pPr>
            <a:r>
              <a:rPr sz="1200" b="0">
                <a:solidFill>
                  <a:srgbClr val="4A4A45"/>
                </a:solidFill>
                <a:latin typeface="Arial"/>
              </a:rPr>
              <a:t>[How you’ll both know it happened.]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4267200"/>
            <a:ext cx="426720" cy="304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495800"/>
            <a:ext cx="3048000" cy="7086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3500"/>
              </a:lnSpc>
            </a:pPr>
            <a:r>
              <a:rPr sz="1440" b="1">
                <a:solidFill>
                  <a:srgbClr val="151515"/>
                </a:solidFill>
                <a:latin typeface="Arial"/>
              </a:rPr>
              <a:t>[Goal three]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815840"/>
            <a:ext cx="30480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500"/>
              </a:lnSpc>
            </a:pPr>
            <a:r>
              <a:rPr sz="1200" b="0">
                <a:solidFill>
                  <a:srgbClr val="4A4A45"/>
                </a:solidFill>
                <a:latin typeface="Arial"/>
              </a:rPr>
              <a:t>[How you’ll both know it happened.]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6858000" cy="4800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019" b="1" spc="144">
                <a:solidFill>
                  <a:schemeClr val="accent1"/>
                </a:solidFill>
                <a:latin typeface="Arial"/>
              </a:rPr>
              <a:t>03  THE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6233160"/>
            <a:ext cx="103632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85560"/>
            <a:ext cx="6096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960" b="1">
                <a:solidFill>
                  <a:srgbClr val="8A8983"/>
                </a:solidFill>
                <a:latin typeface="Arial"/>
              </a:rPr>
              <a:t>[Your business]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91600" y="63855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750"/>
              </a:lnSpc>
            </a:pPr>
            <a:r>
              <a:rPr sz="960" b="0" spc="60">
                <a:solidFill>
                  <a:srgbClr val="8A8983"/>
                </a:solidFill>
                <a:latin typeface="Arial"/>
              </a:rPr>
              <a:t>04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9144000" cy="13639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9250"/>
              </a:lnSpc>
            </a:pPr>
            <a:r>
              <a:rPr sz="3120" b="0" spc="-60">
                <a:solidFill>
                  <a:srgbClr val="151515"/>
                </a:solidFill>
                <a:latin typeface="Georgia"/>
              </a:rPr>
              <a:t>How we’ll get there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834640"/>
            <a:ext cx="3048000" cy="2667000"/>
          </a:xfrm>
          <a:prstGeom prst="rect">
            <a:avLst/>
          </a:prstGeom>
          <a:solidFill>
            <a:srgbClr val="F5F4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9200" y="3108960"/>
            <a:ext cx="1524000" cy="160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3360" b="0">
                <a:solidFill>
                  <a:schemeClr val="accent1"/>
                </a:solidFill>
                <a:latin typeface="Georgia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3962400"/>
            <a:ext cx="24384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9200" y="4175760"/>
            <a:ext cx="2438400" cy="739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3500"/>
              </a:lnSpc>
            </a:pPr>
            <a:r>
              <a:rPr sz="1500" b="1">
                <a:solidFill>
                  <a:srgbClr val="151515"/>
                </a:solidFill>
                <a:latin typeface="Arial"/>
              </a:rPr>
              <a:t>[Phase one]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4511040"/>
            <a:ext cx="2438400" cy="647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500"/>
              </a:lnSpc>
            </a:pPr>
            <a:r>
              <a:rPr sz="1140" b="0">
                <a:solidFill>
                  <a:srgbClr val="4A4A45"/>
                </a:solidFill>
                <a:latin typeface="Arial"/>
              </a:rPr>
              <a:t>[What happens, and what they’ll see at the end of it.]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834640"/>
            <a:ext cx="3048000" cy="2667000"/>
          </a:xfrm>
          <a:prstGeom prst="rect">
            <a:avLst/>
          </a:prstGeom>
          <a:solidFill>
            <a:srgbClr val="F5F4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6800" y="3108960"/>
            <a:ext cx="1524000" cy="160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3360" b="0">
                <a:solidFill>
                  <a:schemeClr val="accent1"/>
                </a:solidFill>
                <a:latin typeface="Georgia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76800" y="3962400"/>
            <a:ext cx="24384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76800" y="4175760"/>
            <a:ext cx="2438400" cy="739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3500"/>
              </a:lnSpc>
            </a:pPr>
            <a:r>
              <a:rPr sz="1500" b="1">
                <a:solidFill>
                  <a:srgbClr val="151515"/>
                </a:solidFill>
                <a:latin typeface="Arial"/>
              </a:rPr>
              <a:t>[Phase two]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6800" y="4511040"/>
            <a:ext cx="2438400" cy="647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500"/>
              </a:lnSpc>
            </a:pPr>
            <a:r>
              <a:rPr sz="1140" b="0">
                <a:solidFill>
                  <a:srgbClr val="4A4A45"/>
                </a:solidFill>
                <a:latin typeface="Arial"/>
              </a:rPr>
              <a:t>[What happens, and what they’ll see at the end of it.]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834640"/>
            <a:ext cx="3048000" cy="2667000"/>
          </a:xfrm>
          <a:prstGeom prst="rect">
            <a:avLst/>
          </a:prstGeom>
          <a:solidFill>
            <a:srgbClr val="F5F4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4400" y="3108960"/>
            <a:ext cx="1524000" cy="160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3360" b="0">
                <a:solidFill>
                  <a:schemeClr val="accent1"/>
                </a:solidFill>
                <a:latin typeface="Georgia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34400" y="3962400"/>
            <a:ext cx="24384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4400" y="4175760"/>
            <a:ext cx="2438400" cy="739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3500"/>
              </a:lnSpc>
            </a:pPr>
            <a:r>
              <a:rPr sz="1500" b="1">
                <a:solidFill>
                  <a:srgbClr val="151515"/>
                </a:solidFill>
                <a:latin typeface="Arial"/>
              </a:rPr>
              <a:t>[Phase three]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4511040"/>
            <a:ext cx="2438400" cy="647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500"/>
              </a:lnSpc>
            </a:pPr>
            <a:r>
              <a:rPr sz="1140" b="0">
                <a:solidFill>
                  <a:srgbClr val="4A4A45"/>
                </a:solidFill>
                <a:latin typeface="Arial"/>
              </a:rPr>
              <a:t>[What happens, and what they’ll see at the end of it.]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6858000" cy="4800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019" b="1" spc="144">
                <a:solidFill>
                  <a:schemeClr val="accent1"/>
                </a:solidFill>
                <a:latin typeface="Arial"/>
              </a:rPr>
              <a:t>04  WHAT’S INCLUDED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6233160"/>
            <a:ext cx="103632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85560"/>
            <a:ext cx="6096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960" b="1">
                <a:solidFill>
                  <a:srgbClr val="8A8983"/>
                </a:solidFill>
                <a:latin typeface="Arial"/>
              </a:rPr>
              <a:t>[Your business]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91600" y="63855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750"/>
              </a:lnSpc>
            </a:pPr>
            <a:r>
              <a:rPr sz="960" b="0" spc="60">
                <a:solidFill>
                  <a:srgbClr val="8A8983"/>
                </a:solidFill>
                <a:latin typeface="Arial"/>
              </a:rPr>
              <a:t>05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9144000" cy="13639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9250"/>
              </a:lnSpc>
            </a:pPr>
            <a:r>
              <a:rPr sz="3120" b="0" spc="-60">
                <a:solidFill>
                  <a:srgbClr val="151515"/>
                </a:solidFill>
                <a:latin typeface="Georgia"/>
              </a:rPr>
              <a:t>Everything in [Your offer].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743200"/>
            <a:ext cx="50292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3002280"/>
            <a:ext cx="106680" cy="1066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9200" y="2926080"/>
            <a:ext cx="4572000" cy="7086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3500"/>
              </a:lnSpc>
            </a:pPr>
            <a:r>
              <a:rPr sz="1440" b="1">
                <a:solidFill>
                  <a:srgbClr val="151515"/>
                </a:solidFill>
                <a:latin typeface="Arial"/>
              </a:rPr>
              <a:t>[Deliverable one]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215640"/>
            <a:ext cx="4572000" cy="510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080" b="0">
                <a:solidFill>
                  <a:srgbClr val="8A8983"/>
                </a:solidFill>
                <a:latin typeface="Arial"/>
              </a:rPr>
              <a:t>[One line on what it is]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8400" y="2743200"/>
            <a:ext cx="50292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48400" y="3002280"/>
            <a:ext cx="106680" cy="1066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200" y="2926080"/>
            <a:ext cx="4572000" cy="7086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3500"/>
              </a:lnSpc>
            </a:pPr>
            <a:r>
              <a:rPr sz="1440" b="1">
                <a:solidFill>
                  <a:srgbClr val="151515"/>
                </a:solidFill>
                <a:latin typeface="Arial"/>
              </a:rPr>
              <a:t>[Deliverable two]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3215640"/>
            <a:ext cx="4572000" cy="510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080" b="0">
                <a:solidFill>
                  <a:srgbClr val="8A8983"/>
                </a:solidFill>
                <a:latin typeface="Arial"/>
              </a:rPr>
              <a:t>[One line on what it is]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810000"/>
            <a:ext cx="50292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4069080"/>
            <a:ext cx="106680" cy="1066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19200" y="3992880"/>
            <a:ext cx="4572000" cy="7086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3500"/>
              </a:lnSpc>
            </a:pPr>
            <a:r>
              <a:rPr sz="1440" b="1">
                <a:solidFill>
                  <a:srgbClr val="151515"/>
                </a:solidFill>
                <a:latin typeface="Arial"/>
              </a:rPr>
              <a:t>[Deliverable three]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9200" y="4282440"/>
            <a:ext cx="4572000" cy="510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080" b="0">
                <a:solidFill>
                  <a:srgbClr val="8A8983"/>
                </a:solidFill>
                <a:latin typeface="Arial"/>
              </a:rPr>
              <a:t>[One line on what it is]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8400" y="3810000"/>
            <a:ext cx="50292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48400" y="4069080"/>
            <a:ext cx="106680" cy="1066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992880"/>
            <a:ext cx="4572000" cy="7086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3500"/>
              </a:lnSpc>
            </a:pPr>
            <a:r>
              <a:rPr sz="1440" b="1">
                <a:solidFill>
                  <a:srgbClr val="151515"/>
                </a:solidFill>
                <a:latin typeface="Arial"/>
              </a:rPr>
              <a:t>[Deliverable four]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200" y="4282440"/>
            <a:ext cx="4572000" cy="510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080" b="0">
                <a:solidFill>
                  <a:srgbClr val="8A8983"/>
                </a:solidFill>
                <a:latin typeface="Arial"/>
              </a:rPr>
              <a:t>[One line on what it is]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4876800"/>
            <a:ext cx="50292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5135880"/>
            <a:ext cx="106680" cy="1066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9200" y="5059680"/>
            <a:ext cx="4572000" cy="7086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3500"/>
              </a:lnSpc>
            </a:pPr>
            <a:r>
              <a:rPr sz="1440" b="1">
                <a:solidFill>
                  <a:srgbClr val="151515"/>
                </a:solidFill>
                <a:latin typeface="Arial"/>
              </a:rPr>
              <a:t>[Support]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9200" y="5349240"/>
            <a:ext cx="4572000" cy="510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080" b="0">
                <a:solidFill>
                  <a:srgbClr val="8A8983"/>
                </a:solidFill>
                <a:latin typeface="Arial"/>
              </a:rPr>
              <a:t>[How and when they can reach you]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8400" y="4876800"/>
            <a:ext cx="50292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48400" y="5135880"/>
            <a:ext cx="106680" cy="1066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3200" y="5059680"/>
            <a:ext cx="4572000" cy="7086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3500"/>
              </a:lnSpc>
            </a:pPr>
            <a:r>
              <a:rPr sz="1440" b="1">
                <a:solidFill>
                  <a:srgbClr val="151515"/>
                </a:solidFill>
                <a:latin typeface="Arial"/>
              </a:rPr>
              <a:t>[Anything else]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3200" y="5349240"/>
            <a:ext cx="4572000" cy="510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080" b="0">
                <a:solidFill>
                  <a:srgbClr val="8A8983"/>
                </a:solidFill>
                <a:latin typeface="Arial"/>
              </a:rPr>
              <a:t>[Or delete this row]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6858000" cy="4800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019" b="1" spc="144">
                <a:solidFill>
                  <a:schemeClr val="accent1"/>
                </a:solidFill>
                <a:latin typeface="Arial"/>
              </a:rPr>
              <a:t>05 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6233160"/>
            <a:ext cx="103632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85560"/>
            <a:ext cx="6096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960" b="1">
                <a:solidFill>
                  <a:srgbClr val="8A8983"/>
                </a:solidFill>
                <a:latin typeface="Arial"/>
              </a:rPr>
              <a:t>[Your business]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91600" y="63855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750"/>
              </a:lnSpc>
            </a:pPr>
            <a:r>
              <a:rPr sz="960" b="0" spc="60">
                <a:solidFill>
                  <a:srgbClr val="8A8983"/>
                </a:solidFill>
                <a:latin typeface="Arial"/>
              </a:rPr>
              <a:t>06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9144000" cy="13639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9250"/>
              </a:lnSpc>
            </a:pPr>
            <a:r>
              <a:rPr sz="3120" b="0" spc="-60">
                <a:solidFill>
                  <a:srgbClr val="151515"/>
                </a:solidFill>
                <a:latin typeface="Georgia"/>
              </a:rPr>
              <a:t>From yes to done.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030980"/>
            <a:ext cx="10363200" cy="1524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81400"/>
            <a:ext cx="2438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960" b="1" spc="120">
                <a:solidFill>
                  <a:schemeClr val="accent1"/>
                </a:solidFill>
                <a:latin typeface="Arial"/>
              </a:rPr>
              <a:t>[WEEK 1]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962400"/>
            <a:ext cx="152400" cy="152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373880"/>
            <a:ext cx="2286000" cy="739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3500"/>
              </a:lnSpc>
            </a:pPr>
            <a:r>
              <a:rPr sz="1500" b="1">
                <a:solidFill>
                  <a:srgbClr val="151515"/>
                </a:solidFill>
                <a:latin typeface="Arial"/>
              </a:rPr>
              <a:t>Kickoff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09160"/>
            <a:ext cx="2286000" cy="647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500"/>
              </a:lnSpc>
            </a:pPr>
            <a:r>
              <a:rPr sz="1140" b="0">
                <a:solidFill>
                  <a:srgbClr val="4A4A45"/>
                </a:solidFill>
                <a:latin typeface="Arial"/>
              </a:rPr>
              <a:t>[What happens first, and what you need from them.]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581400"/>
            <a:ext cx="2438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960" b="1" spc="120">
                <a:solidFill>
                  <a:schemeClr val="accent1"/>
                </a:solidFill>
                <a:latin typeface="Arial"/>
              </a:rPr>
              <a:t>[WEEK 2]</a:t>
            </a:r>
          </a:p>
        </p:txBody>
      </p:sp>
      <p:sp>
        <p:nvSpPr>
          <p:cNvPr id="13" name="Oval 12"/>
          <p:cNvSpPr/>
          <p:nvPr/>
        </p:nvSpPr>
        <p:spPr>
          <a:xfrm>
            <a:off x="3657600" y="3962400"/>
            <a:ext cx="152400" cy="152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4373880"/>
            <a:ext cx="2286000" cy="739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3500"/>
              </a:lnSpc>
            </a:pPr>
            <a:r>
              <a:rPr sz="1500" b="1">
                <a:solidFill>
                  <a:srgbClr val="151515"/>
                </a:solidFill>
                <a:latin typeface="Arial"/>
              </a:rPr>
              <a:t>[Milestone]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709160"/>
            <a:ext cx="2286000" cy="647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500"/>
              </a:lnSpc>
            </a:pPr>
            <a:r>
              <a:rPr sz="1140" b="0">
                <a:solidFill>
                  <a:srgbClr val="4A4A45"/>
                </a:solidFill>
                <a:latin typeface="Arial"/>
              </a:rPr>
              <a:t>[What’s finished by now.]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581400"/>
            <a:ext cx="2438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960" b="1" spc="120">
                <a:solidFill>
                  <a:schemeClr val="accent1"/>
                </a:solidFill>
                <a:latin typeface="Arial"/>
              </a:rPr>
              <a:t>[WEEK 3]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3962400"/>
            <a:ext cx="152400" cy="152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373880"/>
            <a:ext cx="2286000" cy="739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3500"/>
              </a:lnSpc>
            </a:pPr>
            <a:r>
              <a:rPr sz="1500" b="1">
                <a:solidFill>
                  <a:srgbClr val="151515"/>
                </a:solidFill>
                <a:latin typeface="Arial"/>
              </a:rPr>
              <a:t>[Milestone]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709160"/>
            <a:ext cx="2286000" cy="647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500"/>
              </a:lnSpc>
            </a:pPr>
            <a:r>
              <a:rPr sz="1140" b="0">
                <a:solidFill>
                  <a:srgbClr val="4A4A45"/>
                </a:solidFill>
                <a:latin typeface="Arial"/>
              </a:rPr>
              <a:t>[What’s finished by now.]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581400"/>
            <a:ext cx="2438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960" b="1" spc="120">
                <a:solidFill>
                  <a:schemeClr val="accent1"/>
                </a:solidFill>
                <a:latin typeface="Arial"/>
              </a:rPr>
              <a:t>[WEEK 4]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0" y="3962400"/>
            <a:ext cx="152400" cy="152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4373880"/>
            <a:ext cx="2286000" cy="739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3500"/>
              </a:lnSpc>
            </a:pPr>
            <a:r>
              <a:rPr sz="1500" b="1">
                <a:solidFill>
                  <a:srgbClr val="151515"/>
                </a:solidFill>
                <a:latin typeface="Arial"/>
              </a:rPr>
              <a:t>Handover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4709160"/>
            <a:ext cx="2286000" cy="647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500"/>
              </a:lnSpc>
            </a:pPr>
            <a:r>
              <a:rPr sz="1140" b="0">
                <a:solidFill>
                  <a:srgbClr val="4A4A45"/>
                </a:solidFill>
                <a:latin typeface="Arial"/>
              </a:rPr>
              <a:t>[What they have at the end.]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6858000" cy="4800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019" b="1" spc="144">
                <a:solidFill>
                  <a:schemeClr val="accent1"/>
                </a:solidFill>
                <a:latin typeface="Arial"/>
              </a:rPr>
              <a:t>06  INVESTMENT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6233160"/>
            <a:ext cx="103632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85560"/>
            <a:ext cx="6096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960" b="1">
                <a:solidFill>
                  <a:srgbClr val="8A8983"/>
                </a:solidFill>
                <a:latin typeface="Arial"/>
              </a:rPr>
              <a:t>[Your business]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91600" y="63855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750"/>
              </a:lnSpc>
            </a:pPr>
            <a:r>
              <a:rPr sz="960" b="0" spc="60">
                <a:solidFill>
                  <a:srgbClr val="8A8983"/>
                </a:solidFill>
                <a:latin typeface="Arial"/>
              </a:rPr>
              <a:t>07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5029200" cy="13639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9250"/>
              </a:lnSpc>
            </a:pPr>
            <a:r>
              <a:rPr sz="3120" b="0" spc="-60">
                <a:solidFill>
                  <a:srgbClr val="151515"/>
                </a:solidFill>
                <a:latin typeface="Georgia"/>
              </a:rPr>
              <a:t>[Your offer]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5334000" cy="2110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4500"/>
              </a:lnSpc>
            </a:pPr>
            <a:r>
              <a:rPr sz="5040" b="0" spc="-60">
                <a:solidFill>
                  <a:schemeClr val="accent1"/>
                </a:solidFill>
                <a:latin typeface="Georgia"/>
              </a:rPr>
              <a:t>[Your price]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27120"/>
            <a:ext cx="5029200" cy="701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20" b="0">
                <a:solidFill>
                  <a:srgbClr val="8A8983"/>
                </a:solidFill>
                <a:latin typeface="Arial"/>
              </a:rPr>
              <a:t>[Per project, per month or per visit]</a:t>
            </a:r>
          </a:p>
        </p:txBody>
      </p:sp>
      <p:sp>
        <p:nvSpPr>
          <p:cNvPr id="9" name="Rectangle 8"/>
          <p:cNvSpPr/>
          <p:nvPr/>
        </p:nvSpPr>
        <p:spPr>
          <a:xfrm>
            <a:off x="6705600" y="1295400"/>
            <a:ext cx="4572000" cy="762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5600" y="1493520"/>
            <a:ext cx="4572000" cy="396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840" b="1" spc="120">
                <a:solidFill>
                  <a:srgbClr val="8A8983"/>
                </a:solidFill>
                <a:latin typeface="Arial"/>
              </a:rPr>
              <a:t>INCLUDES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1737360"/>
            <a:ext cx="45720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440" b="0">
                <a:solidFill>
                  <a:srgbClr val="151515"/>
                </a:solidFill>
                <a:latin typeface="Arial"/>
              </a:rPr>
              <a:t>[A short summary of what’s included]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05600" y="2590800"/>
            <a:ext cx="45720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5600" y="2788920"/>
            <a:ext cx="4572000" cy="396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840" b="1" spc="120">
                <a:solidFill>
                  <a:srgbClr val="8A8983"/>
                </a:solidFill>
                <a:latin typeface="Arial"/>
              </a:rPr>
              <a:t>PAYMENT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5600" y="3032760"/>
            <a:ext cx="45720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440" b="0">
                <a:solidFill>
                  <a:srgbClr val="151515"/>
                </a:solidFill>
                <a:latin typeface="Arial"/>
              </a:rPr>
              <a:t>[Deposit and payment terms]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05600" y="3886200"/>
            <a:ext cx="45720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5600" y="4084320"/>
            <a:ext cx="4572000" cy="396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840" b="1" spc="120">
                <a:solidFill>
                  <a:srgbClr val="8A8983"/>
                </a:solidFill>
                <a:latin typeface="Arial"/>
              </a:rPr>
              <a:t>NOT INCLUDED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600" y="4328160"/>
            <a:ext cx="45720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440" b="0">
                <a:solidFill>
                  <a:srgbClr val="151515"/>
                </a:solidFill>
                <a:latin typeface="Arial"/>
              </a:rPr>
              <a:t>[Anything out of scope, so there are no surprises]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05600" y="5181600"/>
            <a:ext cx="45720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6858000" cy="4800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019" b="1" spc="144">
                <a:solidFill>
                  <a:schemeClr val="accent1"/>
                </a:solidFill>
                <a:latin typeface="Arial"/>
              </a:rPr>
              <a:t>07  NEXT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6233160"/>
            <a:ext cx="103632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85560"/>
            <a:ext cx="6096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960" b="1">
                <a:solidFill>
                  <a:srgbClr val="8A8983"/>
                </a:solidFill>
                <a:latin typeface="Arial"/>
              </a:rPr>
              <a:t>[Your business]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91600" y="63855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750"/>
              </a:lnSpc>
            </a:pPr>
            <a:r>
              <a:rPr sz="960" b="0" spc="60">
                <a:solidFill>
                  <a:srgbClr val="8A8983"/>
                </a:solidFill>
                <a:latin typeface="Arial"/>
              </a:rPr>
              <a:t>08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9144000" cy="13639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9250"/>
              </a:lnSpc>
            </a:pPr>
            <a:r>
              <a:rPr sz="3120" b="0" spc="-60">
                <a:solidFill>
                  <a:srgbClr val="151515"/>
                </a:solidFill>
                <a:latin typeface="Georgia"/>
              </a:rPr>
              <a:t>If this looks right, here’s how we start.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834640"/>
            <a:ext cx="3048000" cy="2667000"/>
          </a:xfrm>
          <a:prstGeom prst="rect">
            <a:avLst/>
          </a:prstGeom>
          <a:solidFill>
            <a:srgbClr val="F5F4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9200" y="3108960"/>
            <a:ext cx="1524000" cy="160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3360" b="0">
                <a:solidFill>
                  <a:schemeClr val="accent1"/>
                </a:solidFill>
                <a:latin typeface="Georgia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3962400"/>
            <a:ext cx="24384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9200" y="4175760"/>
            <a:ext cx="2438400" cy="739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3500"/>
              </a:lnSpc>
            </a:pPr>
            <a:r>
              <a:rPr sz="1500" b="1">
                <a:solidFill>
                  <a:srgbClr val="151515"/>
                </a:solidFill>
                <a:latin typeface="Arial"/>
              </a:rPr>
              <a:t>Confirm the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4511040"/>
            <a:ext cx="2438400" cy="647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500"/>
              </a:lnSpc>
            </a:pPr>
            <a:r>
              <a:rPr sz="1140" b="0">
                <a:solidFill>
                  <a:srgbClr val="4A4A45"/>
                </a:solidFill>
                <a:latin typeface="Arial"/>
              </a:rPr>
              <a:t>[Reply with any changes you’d like to the scope.]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834640"/>
            <a:ext cx="3048000" cy="2667000"/>
          </a:xfrm>
          <a:prstGeom prst="rect">
            <a:avLst/>
          </a:prstGeom>
          <a:solidFill>
            <a:srgbClr val="F5F4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6800" y="3108960"/>
            <a:ext cx="1524000" cy="160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3360" b="0">
                <a:solidFill>
                  <a:schemeClr val="accent1"/>
                </a:solidFill>
                <a:latin typeface="Georgia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76800" y="3962400"/>
            <a:ext cx="24384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76800" y="4175760"/>
            <a:ext cx="2438400" cy="739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3500"/>
              </a:lnSpc>
            </a:pPr>
            <a:r>
              <a:rPr sz="1500" b="1">
                <a:solidFill>
                  <a:srgbClr val="151515"/>
                </a:solidFill>
                <a:latin typeface="Arial"/>
              </a:rPr>
              <a:t>Approve and 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6800" y="4511040"/>
            <a:ext cx="2438400" cy="647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500"/>
              </a:lnSpc>
            </a:pPr>
            <a:r>
              <a:rPr sz="1140" b="0">
                <a:solidFill>
                  <a:srgbClr val="4A4A45"/>
                </a:solidFill>
                <a:latin typeface="Arial"/>
              </a:rPr>
              <a:t>[Approve the quote and pick a start date at [your booking link]]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834640"/>
            <a:ext cx="3048000" cy="2667000"/>
          </a:xfrm>
          <a:prstGeom prst="rect">
            <a:avLst/>
          </a:prstGeom>
          <a:solidFill>
            <a:srgbClr val="F5F4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4400" y="3108960"/>
            <a:ext cx="1524000" cy="160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3360" b="0">
                <a:solidFill>
                  <a:schemeClr val="accent1"/>
                </a:solidFill>
                <a:latin typeface="Georgia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34400" y="3962400"/>
            <a:ext cx="24384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4400" y="4175760"/>
            <a:ext cx="2438400" cy="739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3500"/>
              </a:lnSpc>
            </a:pPr>
            <a:r>
              <a:rPr sz="1500" b="1">
                <a:solidFill>
                  <a:srgbClr val="151515"/>
                </a:solidFill>
                <a:latin typeface="Arial"/>
              </a:rPr>
              <a:t>Kickoff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4511040"/>
            <a:ext cx="2438400" cy="647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500"/>
              </a:lnSpc>
            </a:pPr>
            <a:r>
              <a:rPr sz="1140" b="0">
                <a:solidFill>
                  <a:srgbClr val="4A4A45"/>
                </a:solidFill>
                <a:latin typeface="Arial"/>
              </a:rPr>
              <a:t>[What happens on day one, and who’s involved.]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730240"/>
            <a:ext cx="10363200" cy="510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080" b="0">
                <a:solidFill>
                  <a:srgbClr val="8A8983"/>
                </a:solidFill>
                <a:latin typeface="Arial"/>
              </a:rPr>
              <a:t>No pressure. If the timing isn’t right, just say so and we’ll pick it up when it 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493520"/>
            <a:ext cx="5486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98320"/>
            <a:ext cx="9906000" cy="2590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9750"/>
              </a:lnSpc>
            </a:pPr>
            <a:r>
              <a:rPr sz="6480" b="0" spc="-120">
                <a:solidFill>
                  <a:srgbClr val="FFFFFF"/>
                </a:solidFill>
                <a:latin typeface="Georgia"/>
              </a:rPr>
              <a:t>Thank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620000" cy="8610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7750"/>
              </a:lnSpc>
            </a:pPr>
            <a:r>
              <a:rPr sz="1560" b="0">
                <a:solidFill>
                  <a:srgbClr val="B4B3AD"/>
                </a:solidFill>
                <a:latin typeface="Arial"/>
              </a:rPr>
              <a:t>Questions about anything in this plan? Reach me directly.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114800"/>
            <a:ext cx="4572000" cy="7620"/>
          </a:xfrm>
          <a:prstGeom prst="rect">
            <a:avLst/>
          </a:prstGeom>
          <a:solidFill>
            <a:srgbClr val="8584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4572000" cy="396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840" b="1" spc="120">
                <a:solidFill>
                  <a:srgbClr val="85847E"/>
                </a:solidFill>
                <a:latin typeface="Arial"/>
              </a:rPr>
              <a:t>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4876800" cy="800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680" b="0">
                <a:solidFill>
                  <a:srgbClr val="FFFFFF"/>
                </a:solidFill>
                <a:latin typeface="Arial"/>
              </a:rPr>
              <a:t>[Your name]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0" y="4114800"/>
            <a:ext cx="4572000" cy="7620"/>
          </a:xfrm>
          <a:prstGeom prst="rect">
            <a:avLst/>
          </a:prstGeom>
          <a:solidFill>
            <a:srgbClr val="8584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0" y="4297680"/>
            <a:ext cx="4572000" cy="396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840" b="1" spc="120">
                <a:solidFill>
                  <a:srgbClr val="85847E"/>
                </a:solidFill>
                <a:latin typeface="Arial"/>
              </a:rPr>
              <a:t>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4526280"/>
            <a:ext cx="4876800" cy="800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680" b="0">
                <a:solidFill>
                  <a:srgbClr val="FFFFFF"/>
                </a:solidFill>
                <a:latin typeface="Arial"/>
              </a:rPr>
              <a:t>[you@yourbusiness.com]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059680"/>
            <a:ext cx="4572000" cy="7620"/>
          </a:xfrm>
          <a:prstGeom prst="rect">
            <a:avLst/>
          </a:prstGeom>
          <a:solidFill>
            <a:srgbClr val="8584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242560"/>
            <a:ext cx="4572000" cy="396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840" b="1" spc="120">
                <a:solidFill>
                  <a:srgbClr val="85847E"/>
                </a:solidFill>
                <a:latin typeface="Arial"/>
              </a:rPr>
              <a:t>PHONE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71160"/>
            <a:ext cx="4876800" cy="800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680" b="0">
                <a:solidFill>
                  <a:srgbClr val="FFFFFF"/>
                </a:solidFill>
                <a:latin typeface="Arial"/>
              </a:rPr>
              <a:t>[your phone]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0" y="5059680"/>
            <a:ext cx="4572000" cy="7620"/>
          </a:xfrm>
          <a:prstGeom prst="rect">
            <a:avLst/>
          </a:prstGeom>
          <a:solidFill>
            <a:srgbClr val="8584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0" y="5242560"/>
            <a:ext cx="4572000" cy="396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840" b="1" spc="120">
                <a:solidFill>
                  <a:srgbClr val="85847E"/>
                </a:solidFill>
                <a:latin typeface="Arial"/>
              </a:rPr>
              <a:t>WEBSITE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0" y="5471160"/>
            <a:ext cx="4876800" cy="800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680" b="0">
                <a:solidFill>
                  <a:srgbClr val="FFFFFF"/>
                </a:solidFill>
                <a:latin typeface="Arial"/>
              </a:rPr>
              <a:t>[yourwebsite.com]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385560"/>
            <a:ext cx="6096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960" b="1">
                <a:solidFill>
                  <a:srgbClr val="85847E"/>
                </a:solidFill>
                <a:latin typeface="Arial"/>
              </a:rPr>
              <a:t>[Your business]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c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11111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Presentation</dc:title>
  <dc:subject/>
  <dc:creator/>
  <cp:keywords/>
  <dc:description/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